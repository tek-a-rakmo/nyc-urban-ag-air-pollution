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78" r:id="rId7"/>
    <p:sldId id="279" r:id="rId8"/>
    <p:sldId id="288" r:id="rId9"/>
    <p:sldId id="258" r:id="rId10"/>
    <p:sldId id="286" r:id="rId11"/>
    <p:sldId id="280" r:id="rId12"/>
    <p:sldId id="281" r:id="rId13"/>
    <p:sldId id="287" r:id="rId14"/>
    <p:sldId id="284" r:id="rId15"/>
    <p:sldId id="285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655" autoAdjust="0"/>
  </p:normalViewPr>
  <p:slideViewPr>
    <p:cSldViewPr snapToGrid="0">
      <p:cViewPr varScale="1">
        <p:scale>
          <a:sx n="81" d="100"/>
          <a:sy n="81" d="100"/>
        </p:scale>
        <p:origin x="77" y="17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 for this project was to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Economic benefits : Cash sales and jobs;</a:t>
            </a:r>
          </a:p>
          <a:p>
            <a:r>
              <a:rPr lang="en-US" dirty="0"/>
              <a:t>Social benefits :  improving nutritional outcomes, individual and community wellbeing, recreation activities, educational opportunities  , improved social integration </a:t>
            </a:r>
          </a:p>
          <a:p>
            <a:r>
              <a:rPr lang="en-US" dirty="0"/>
              <a:t>Environmental benefits;  improved carbon and storm water capture, ground water recharge, food and organic waste composting, wildlife habitat, improved local biodiversity, contamination mitigation, improved air quality, urban cooling, energy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746CE-DF6E-ADA7-E35B-DFE62578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6FBE4-1979-AC08-B87A-E33F5513C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B6D7BE-1BC1-7499-D7C6-27B2562F4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5A88A-CD35-C946-24DE-39F1F69B9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944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BEB19-6E92-1C39-0578-1B5821ED2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41802-DD69-8EEE-E0CA-829DD52A9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E3408-4044-FFCD-E290-51F7B73C7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15B25-BBAD-E771-03E6-31BF19AD0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532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B6E99-5A97-21CD-E446-CFC27C209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AAE53-FBA4-B47A-CE8B-FACB84CE0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A213E-F482-59B2-70A3-09C077AC7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95E30-4AA4-5A78-47F0-394BC6E9B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8652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550" y="1828799"/>
            <a:ext cx="10248900" cy="4555671"/>
          </a:xfrm>
        </p:spPr>
        <p:txBody>
          <a:bodyPr anchor="ctr"/>
          <a:lstStyle/>
          <a:p>
            <a:pPr algn="ctr"/>
            <a:r>
              <a:rPr lang="en-US" b="1" dirty="0">
                <a:latin typeface="Garamond" panose="02020404030301010803" pitchFamily="18" charset="0"/>
              </a:rPr>
              <a:t>Exploratory Spatial Analysis of Urban Agriculture and Air Quality in NYC</a:t>
            </a:r>
            <a:br>
              <a:rPr lang="en-US" b="1" dirty="0">
                <a:latin typeface="Garamond" panose="02020404030301010803" pitchFamily="18" charset="0"/>
              </a:rPr>
            </a:br>
            <a:br>
              <a:rPr lang="en-US" b="1" dirty="0">
                <a:latin typeface="Garamond" panose="02020404030301010803" pitchFamily="18" charset="0"/>
              </a:rPr>
            </a:br>
            <a:br>
              <a:rPr lang="en-US" b="1" dirty="0">
                <a:latin typeface="Garamond" panose="02020404030301010803" pitchFamily="18" charset="0"/>
              </a:rPr>
            </a:br>
            <a:r>
              <a:rPr lang="en-US" b="1" dirty="0">
                <a:latin typeface="Garamond" panose="02020404030301010803" pitchFamily="18" charset="0"/>
              </a:rPr>
              <a:t>Omkar Tekawade</a:t>
            </a:r>
            <a:br>
              <a:rPr lang="en-US" b="1" dirty="0">
                <a:latin typeface="Garamond" panose="02020404030301010803" pitchFamily="18" charset="0"/>
              </a:rPr>
            </a:br>
            <a:r>
              <a:rPr lang="en-US" b="1" dirty="0">
                <a:latin typeface="Garamond" panose="02020404030301010803" pitchFamily="18" charset="0"/>
              </a:rPr>
              <a:t>PLSCI 5200 Project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63" y="914398"/>
            <a:ext cx="3540158" cy="1325563"/>
          </a:xfrm>
        </p:spPr>
        <p:txBody>
          <a:bodyPr>
            <a:noAutofit/>
          </a:bodyPr>
          <a:lstStyle/>
          <a:p>
            <a:r>
              <a:rPr lang="en-US" sz="3600" dirty="0"/>
              <a:t>Project Goal &amp;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063" y="2674013"/>
            <a:ext cx="5148943" cy="3269589"/>
          </a:xfrm>
        </p:spPr>
        <p:txBody>
          <a:bodyPr>
            <a:normAutofit/>
          </a:bodyPr>
          <a:lstStyle/>
          <a:p>
            <a:r>
              <a:rPr lang="en-US" sz="2000" b="1" dirty="0"/>
              <a:t>Goal</a:t>
            </a:r>
            <a:r>
              <a:rPr lang="en-US" sz="2000" dirty="0"/>
              <a:t>: Conduct an initial, exploratory spatial analysis of the relationship between Urban Agriculture (UA) site locations and ambient air quality (AQ) in NYC. </a:t>
            </a:r>
          </a:p>
          <a:p>
            <a:r>
              <a:rPr lang="en-US" sz="2000" b="1" dirty="0"/>
              <a:t>Hypothesis</a:t>
            </a:r>
            <a:r>
              <a:rPr lang="en-US" sz="2000" dirty="0"/>
              <a:t> : Urban Agriculture has a good effect on air quality.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275" y="0"/>
            <a:ext cx="4179570" cy="1812665"/>
          </a:xfrm>
        </p:spPr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8A4FB9-41EF-9ECF-7267-E4FC1EF155BA}"/>
              </a:ext>
            </a:extLst>
          </p:cNvPr>
          <p:cNvSpPr txBox="1"/>
          <p:nvPr/>
        </p:nvSpPr>
        <p:spPr>
          <a:xfrm>
            <a:off x="6712368" y="115315"/>
            <a:ext cx="534435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In recent years, Urban Agriculture (UA) projects have bloomed throughout the world.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Beyond food production, UA has increasing benefits in improving the socio-environmental dimension of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Environmental benefits:-  improved carbon and storm water capture, ground water recharge, food and organic waste composting, improved local biodiversity, contamination mitigation, </a:t>
            </a:r>
            <a:r>
              <a:rPr lang="en-US" sz="2500" dirty="0">
                <a:solidFill>
                  <a:srgbClr val="C00000"/>
                </a:solidFill>
              </a:rPr>
              <a:t>improved air quality</a:t>
            </a:r>
            <a:r>
              <a:rPr lang="en-US" sz="2500" dirty="0"/>
              <a:t>, urban cooling, energy savings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215" y="310587"/>
            <a:ext cx="4179570" cy="1599636"/>
          </a:xfrm>
        </p:spPr>
        <p:txBody>
          <a:bodyPr/>
          <a:lstStyle/>
          <a:p>
            <a:r>
              <a:rPr lang="en-US" sz="4000" dirty="0"/>
              <a:t>Data Used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CBE48B-D946-F615-95B5-48B96E51E35D}"/>
              </a:ext>
            </a:extLst>
          </p:cNvPr>
          <p:cNvSpPr txBox="1"/>
          <p:nvPr/>
        </p:nvSpPr>
        <p:spPr>
          <a:xfrm>
            <a:off x="0" y="2367171"/>
            <a:ext cx="530729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200" b="1" dirty="0">
                <a:solidFill>
                  <a:schemeClr val="bg1"/>
                </a:solidFill>
              </a:rPr>
              <a:t>NYC Urban Agriculture Sites</a:t>
            </a:r>
            <a:r>
              <a:rPr lang="en-US" sz="2200" dirty="0">
                <a:solidFill>
                  <a:schemeClr val="bg1"/>
                </a:solidFill>
              </a:rPr>
              <a:t> : - (Point vector layer)</a:t>
            </a:r>
          </a:p>
          <a:p>
            <a:pPr marL="800100" lvl="1" indent="-342900">
              <a:buAutoNum type="arabicPeriod"/>
            </a:pPr>
            <a:r>
              <a:rPr lang="en-US" sz="2200" dirty="0">
                <a:solidFill>
                  <a:schemeClr val="bg1"/>
                </a:solidFill>
              </a:rPr>
              <a:t>Prepared by :- NYC Mayor’s Office of Urban Agriculture</a:t>
            </a:r>
          </a:p>
          <a:p>
            <a:pPr marL="800100" lvl="1" indent="-342900">
              <a:buAutoNum type="arabicPeriod"/>
            </a:pPr>
            <a:r>
              <a:rPr lang="en-US" sz="2200" dirty="0">
                <a:solidFill>
                  <a:schemeClr val="bg1"/>
                </a:solidFill>
              </a:rPr>
              <a:t>Hosted on ArcGIS Online and available to public</a:t>
            </a:r>
          </a:p>
        </p:txBody>
      </p:sp>
      <p:pic>
        <p:nvPicPr>
          <p:cNvPr id="12" name="Picture 11" descr="A map of a city with many different colored circles">
            <a:extLst>
              <a:ext uri="{FF2B5EF4-FFF2-40B4-BE49-F238E27FC236}">
                <a16:creationId xmlns:a16="http://schemas.microsoft.com/office/drawing/2014/main" id="{E8ED56B2-46DB-A778-E961-E3A0A302A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291" y="1598190"/>
            <a:ext cx="6884709" cy="518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7F1291-D9FC-A49F-B5D1-682FD7CA2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5027F3-E934-CAAE-176F-E243903D0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8465270" y="0"/>
            <a:ext cx="372673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5E53B3F-DD2B-46BD-9FB2-70D0F96DEDA9}"/>
              </a:ext>
            </a:extLst>
          </p:cNvPr>
          <p:cNvSpPr txBox="1"/>
          <p:nvPr/>
        </p:nvSpPr>
        <p:spPr>
          <a:xfrm>
            <a:off x="84841" y="249272"/>
            <a:ext cx="1119735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0" u="none" strike="noStrike" dirty="0">
                <a:solidFill>
                  <a:schemeClr val="bg1"/>
                </a:solidFill>
                <a:effectLst/>
              </a:rPr>
              <a:t>New York City Community Air Survey (NYCCAS) air pollution raster's</a:t>
            </a:r>
          </a:p>
          <a:p>
            <a:pPr marL="800100" lvl="1" indent="-342900">
              <a:buAutoNum type="arabicPeriod"/>
            </a:pPr>
            <a:r>
              <a:rPr lang="en-US" sz="2200" dirty="0">
                <a:solidFill>
                  <a:schemeClr val="bg1"/>
                </a:solidFill>
              </a:rPr>
              <a:t>Citywide raster files of </a:t>
            </a:r>
            <a:r>
              <a:rPr lang="en-US" sz="2200" b="1" dirty="0">
                <a:solidFill>
                  <a:schemeClr val="bg1"/>
                </a:solidFill>
              </a:rPr>
              <a:t>annual average </a:t>
            </a:r>
            <a:r>
              <a:rPr lang="en-US" sz="2200" dirty="0">
                <a:solidFill>
                  <a:schemeClr val="bg1"/>
                </a:solidFill>
              </a:rPr>
              <a:t>predicted surface for nitrogen dioxide (NO2), fine particulate matter (PM2.5) and nitric oxide (NO)</a:t>
            </a:r>
          </a:p>
          <a:p>
            <a:pPr marL="800100" lvl="1" indent="-342900">
              <a:buAutoNum type="arabicPeriod"/>
            </a:pPr>
            <a:r>
              <a:rPr lang="en-US" sz="2200" dirty="0">
                <a:solidFill>
                  <a:schemeClr val="bg1"/>
                </a:solidFill>
              </a:rPr>
              <a:t>Spatial Resolution: 300m</a:t>
            </a:r>
          </a:p>
          <a:p>
            <a:pPr marL="800100" lvl="1" indent="-342900">
              <a:buAutoNum type="arabicPeriod"/>
            </a:pPr>
            <a:r>
              <a:rPr lang="en-US" sz="2200" dirty="0">
                <a:solidFill>
                  <a:schemeClr val="bg1"/>
                </a:solidFill>
              </a:rPr>
              <a:t>Temporal Resolution: Yearly (2008 - 2022)</a:t>
            </a:r>
          </a:p>
          <a:p>
            <a:pPr marL="800100" lvl="1" indent="-342900">
              <a:buAutoNum type="arabicPeriod"/>
            </a:pPr>
            <a:r>
              <a:rPr lang="en-US" sz="2200" dirty="0">
                <a:solidFill>
                  <a:schemeClr val="bg1"/>
                </a:solidFill>
              </a:rPr>
              <a:t>Data is available on NYC Open Data Portal</a:t>
            </a:r>
          </a:p>
        </p:txBody>
      </p:sp>
      <p:pic>
        <p:nvPicPr>
          <p:cNvPr id="4" name="Picture 3" descr="A map of different areas of land&#10;&#10;AI-generated content may be incorrect.">
            <a:extLst>
              <a:ext uri="{FF2B5EF4-FFF2-40B4-BE49-F238E27FC236}">
                <a16:creationId xmlns:a16="http://schemas.microsoft.com/office/drawing/2014/main" id="{A6D60367-BA15-462E-071F-46A81CBCC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708" y="2372930"/>
            <a:ext cx="9608584" cy="448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156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806296"/>
          </a:xfrm>
        </p:spPr>
        <p:txBody>
          <a:bodyPr>
            <a:normAutofit/>
          </a:bodyPr>
          <a:lstStyle/>
          <a:p>
            <a:r>
              <a:rPr lang="en-US" sz="3600" dirty="0"/>
              <a:t>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18" y="1150440"/>
            <a:ext cx="8104417" cy="1979260"/>
          </a:xfrm>
        </p:spPr>
        <p:txBody>
          <a:bodyPr>
            <a:noAutofit/>
          </a:bodyPr>
          <a:lstStyle/>
          <a:p>
            <a:r>
              <a:rPr lang="en-US" sz="2000" b="0" dirty="0"/>
              <a:t>Method 1: Extract Values to Points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Objective: Determine AQ concentration </a:t>
            </a:r>
            <a:r>
              <a:rPr lang="en-US" sz="2000" b="0" u="sng" dirty="0"/>
              <a:t>directly at </a:t>
            </a:r>
            <a:r>
              <a:rPr lang="en-US" sz="2000" b="0" dirty="0"/>
              <a:t>each UA 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Process: Sample raster value at each point location.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Output: UA points layer with added </a:t>
            </a:r>
            <a:r>
              <a:rPr lang="en-US" sz="2000" b="0" u="sng" dirty="0"/>
              <a:t>PM2.5,NO2 and NO </a:t>
            </a:r>
            <a:r>
              <a:rPr lang="en-US" sz="2000" b="0" dirty="0"/>
              <a:t>attributes.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91B36-4115-BA13-D355-7413C395A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91" y="3285586"/>
            <a:ext cx="9350550" cy="296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4BC86-E7BF-9A2A-E416-1A1A5054D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315ED-9D84-E57C-6379-E138434FB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1257" y="348011"/>
            <a:ext cx="8104417" cy="2657427"/>
          </a:xfrm>
        </p:spPr>
        <p:txBody>
          <a:bodyPr>
            <a:noAutofit/>
          </a:bodyPr>
          <a:lstStyle/>
          <a:p>
            <a:r>
              <a:rPr lang="en-US" sz="2000" b="0" dirty="0">
                <a:solidFill>
                  <a:schemeClr val="bg1"/>
                </a:solidFill>
              </a:rPr>
              <a:t>Method 2: Buffer &amp; Zonal Statistics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</a:rPr>
              <a:t>Objective: Understand average AQ </a:t>
            </a:r>
            <a:r>
              <a:rPr lang="en-US" sz="2000" b="0" u="sng" dirty="0">
                <a:solidFill>
                  <a:schemeClr val="bg1"/>
                </a:solidFill>
              </a:rPr>
              <a:t>in the vicinity</a:t>
            </a:r>
            <a:r>
              <a:rPr lang="en-US" sz="2000" b="0" dirty="0">
                <a:solidFill>
                  <a:schemeClr val="bg1"/>
                </a:solidFill>
              </a:rPr>
              <a:t> of each UA 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</a:rPr>
              <a:t>Process: </a:t>
            </a:r>
          </a:p>
          <a:p>
            <a:pPr marL="569214" lvl="1"/>
            <a:r>
              <a:rPr lang="en-US" sz="2000" b="0" dirty="0">
                <a:solidFill>
                  <a:schemeClr val="bg1"/>
                </a:solidFill>
              </a:rPr>
              <a:t>Create buffers (300m radius) around UA sites. </a:t>
            </a:r>
          </a:p>
          <a:p>
            <a:pPr marL="569214" lvl="1"/>
            <a:r>
              <a:rPr lang="en-US" sz="2000" b="0" dirty="0">
                <a:solidFill>
                  <a:schemeClr val="bg1"/>
                </a:solidFill>
              </a:rPr>
              <a:t>Calculate average raster values (Mean PM2.5/NO2/NO) within each buffer.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</a:rPr>
              <a:t>Output:  Buffer polygons with average AQ stats per site.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7556DC-A01B-7782-D9CD-DFC1F654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>
                <a:solidFill>
                  <a:schemeClr val="bg1"/>
                </a:solidFill>
              </a:rPr>
              <a:pPr/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D10BA-6BE8-FB0B-F219-AF88BDA0AF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1257" y="3285586"/>
            <a:ext cx="8373710" cy="318288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99CD2B-47F1-C135-0F89-4BB9C08A6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8829368" y="472273"/>
            <a:ext cx="3362632" cy="31853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993B83-ADF7-CB05-F42A-06FB95DFA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6420465" y="0"/>
            <a:ext cx="5771535" cy="23532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467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2873" y="205433"/>
            <a:ext cx="6794205" cy="815293"/>
          </a:xfrm>
        </p:spPr>
        <p:txBody>
          <a:bodyPr/>
          <a:lstStyle/>
          <a:p>
            <a:r>
              <a:rPr lang="en-US" dirty="0"/>
              <a:t>Random Layer 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8F5C9E-D9E8-A963-EDE4-7A0328839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396263"/>
            <a:ext cx="6096000" cy="546173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5A408C-9557-8B45-A3FC-26D88814D97C}"/>
              </a:ext>
            </a:extLst>
          </p:cNvPr>
          <p:cNvCxnSpPr>
            <a:cxnSpLocks/>
          </p:cNvCxnSpPr>
          <p:nvPr/>
        </p:nvCxnSpPr>
        <p:spPr>
          <a:xfrm flipH="1">
            <a:off x="6947555" y="2271860"/>
            <a:ext cx="75414" cy="1253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C4F0E9-1E89-6FE2-2D26-24BBC2C73B4A}"/>
              </a:ext>
            </a:extLst>
          </p:cNvPr>
          <p:cNvCxnSpPr>
            <a:cxnSpLocks/>
          </p:cNvCxnSpPr>
          <p:nvPr/>
        </p:nvCxnSpPr>
        <p:spPr>
          <a:xfrm>
            <a:off x="7202078" y="2168165"/>
            <a:ext cx="3774814" cy="1573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80D1F84-2CBA-DDFC-8AD9-4157E0F5B0EC}"/>
              </a:ext>
            </a:extLst>
          </p:cNvPr>
          <p:cNvCxnSpPr>
            <a:cxnSpLocks/>
          </p:cNvCxnSpPr>
          <p:nvPr/>
        </p:nvCxnSpPr>
        <p:spPr>
          <a:xfrm>
            <a:off x="7126664" y="2271860"/>
            <a:ext cx="1300899" cy="3704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ABB0BFA-846C-48D5-F7D3-54C3ED3BE2F3}"/>
              </a:ext>
            </a:extLst>
          </p:cNvPr>
          <p:cNvSpPr txBox="1"/>
          <p:nvPr/>
        </p:nvSpPr>
        <p:spPr>
          <a:xfrm>
            <a:off x="8707699" y="3786210"/>
            <a:ext cx="76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D648F7-6B38-AB44-4239-E0E5B8F2D60F}"/>
              </a:ext>
            </a:extLst>
          </p:cNvPr>
          <p:cNvSpPr txBox="1"/>
          <p:nvPr/>
        </p:nvSpPr>
        <p:spPr>
          <a:xfrm>
            <a:off x="4060596" y="1800445"/>
            <a:ext cx="6132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Random Generated</a:t>
            </a:r>
          </a:p>
          <a:p>
            <a:pPr algn="ctr"/>
            <a:r>
              <a:rPr lang="en-US" b="1" dirty="0"/>
              <a:t> Point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17AC052-80E7-30C0-E9A8-F212136E7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53" y="1396262"/>
            <a:ext cx="5059837" cy="546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581109"/>
          </a:xfrm>
        </p:spPr>
        <p:txBody>
          <a:bodyPr>
            <a:noAutofit/>
          </a:bodyPr>
          <a:lstStyle/>
          <a:p>
            <a:r>
              <a:rPr lang="en-US" sz="3600" dirty="0"/>
              <a:t>Results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B878B36-1FA3-7562-36D0-030E31B8A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767" y="1269476"/>
            <a:ext cx="10526233" cy="558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D2DC-B190-C0DB-C60A-21347F1FE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A99F1-82EE-D5E4-0703-4C5F09015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581109"/>
          </a:xfrm>
        </p:spPr>
        <p:txBody>
          <a:bodyPr>
            <a:noAutofit/>
          </a:bodyPr>
          <a:lstStyle/>
          <a:p>
            <a:r>
              <a:rPr lang="en-US" sz="3600" dirty="0"/>
              <a:t>Results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B66EB5-D892-EBCB-9E03-5B7D2BD0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E550B80-8E98-20BE-B732-6341D267F3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65767" y="1452099"/>
            <a:ext cx="10526233" cy="522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23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/>
          <a:p>
            <a:r>
              <a:rPr lang="en-US" sz="3600" dirty="0"/>
              <a:t>Discussion &amp; Interpretation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929671"/>
            <a:ext cx="5733773" cy="3678519"/>
          </a:xfrm>
        </p:spPr>
        <p:txBody>
          <a:bodyPr>
            <a:noAutofit/>
          </a:bodyPr>
          <a:lstStyle/>
          <a:p>
            <a:r>
              <a:rPr lang="en-US" sz="2000" dirty="0"/>
              <a:t>The air quality at the Urban Agriculture sites is lower than the randomly selected sites for the whole period.</a:t>
            </a:r>
          </a:p>
          <a:p>
            <a:r>
              <a:rPr lang="en-US" sz="2000" dirty="0"/>
              <a:t>Though looking at the graphs, the gap between both values seems to be reducing.</a:t>
            </a:r>
          </a:p>
          <a:p>
            <a:r>
              <a:rPr lang="en-US" sz="2000" dirty="0"/>
              <a:t>This needs to be further investigated</a:t>
            </a:r>
          </a:p>
          <a:p>
            <a:r>
              <a:rPr lang="en-US" sz="2000" dirty="0"/>
              <a:t>The study also points out that, there might be initial bias in the UA sites placement as they are mostly located in higher-pollution neighborhoods—perhaps due to land costs, zoning of vacant lots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AE07A905-8B37-D13F-25D3-1D3BCDB86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55133" y="2480682"/>
            <a:ext cx="3943627" cy="448989"/>
          </a:xfrm>
        </p:spPr>
        <p:txBody>
          <a:bodyPr/>
          <a:lstStyle/>
          <a:p>
            <a:r>
              <a:rPr lang="en-US" sz="2000" dirty="0"/>
              <a:t>Future Improvement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4E9A764F-6B65-050E-E561-82F77339D16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55133" y="2929671"/>
            <a:ext cx="3943627" cy="3032733"/>
          </a:xfrm>
        </p:spPr>
        <p:txBody>
          <a:bodyPr>
            <a:noAutofit/>
          </a:bodyPr>
          <a:lstStyle/>
          <a:p>
            <a:r>
              <a:rPr lang="en-US" dirty="0"/>
              <a:t>Add control variables such as:</a:t>
            </a:r>
          </a:p>
          <a:p>
            <a:pPr marL="569214" lvl="1"/>
            <a:r>
              <a:rPr lang="en-US" dirty="0"/>
              <a:t>proximity to emission sources (Traffic, Buildings, Industrial Zones)</a:t>
            </a:r>
          </a:p>
          <a:p>
            <a:pPr marL="569214" lvl="1"/>
            <a:r>
              <a:rPr lang="en-US" dirty="0"/>
              <a:t>Population Density</a:t>
            </a:r>
          </a:p>
          <a:p>
            <a:pPr marL="569214" lvl="1"/>
            <a:r>
              <a:rPr lang="en-US" dirty="0"/>
              <a:t>Land use</a:t>
            </a:r>
          </a:p>
          <a:p>
            <a:pPr marL="569214" lvl="1"/>
            <a:r>
              <a:rPr lang="en-US" dirty="0"/>
              <a:t>Meteorology</a:t>
            </a:r>
          </a:p>
          <a:p>
            <a:pPr marL="569214" lvl="1"/>
            <a:r>
              <a:rPr lang="en-US" dirty="0"/>
              <a:t>Proximity to parks, street trees</a:t>
            </a:r>
          </a:p>
          <a:p>
            <a:r>
              <a:rPr lang="en-US" dirty="0"/>
              <a:t>Use the different growing methods to differentiate the effects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/>
          <a:lstStyle/>
          <a:p>
            <a:r>
              <a:rPr lang="en-US" dirty="0"/>
              <a:t>Limitations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5CACC01F-C504-4A3F-7A7D-A1E86219F95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starting date/year for the urban agricultural sites was not available in the data.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air pollution </a:t>
            </a:r>
            <a:r>
              <a:rPr lang="en-US" dirty="0" err="1"/>
              <a:t>rasters</a:t>
            </a:r>
            <a:r>
              <a:rPr lang="en-US" dirty="0"/>
              <a:t> are annual average of the pollution and so they cannot represent fully represent air quality.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spatial resolution of the data is 300m which might not fully represent the effects of UA on air quality.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Due to the quantity of the UA sites, the randomly generated reference data seems to mostly cover the border regions and cannot cover most of the city ground.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analysis was conducted directly on the UA site location and the air quality, but we need to keep in mind that air pollution is a complex system and has many different factors affecting it.</a:t>
            </a:r>
          </a:p>
        </p:txBody>
      </p:sp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Questions?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39bbbe0-29d3-465b-aa74-c9924d2ccb1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DBD4AC81E0B241B527F74DE163A7B4" ma:contentTypeVersion="11" ma:contentTypeDescription="Create a new document." ma:contentTypeScope="" ma:versionID="91567c009134dea37519772ecb05a52e">
  <xsd:schema xmlns:xsd="http://www.w3.org/2001/XMLSchema" xmlns:xs="http://www.w3.org/2001/XMLSchema" xmlns:p="http://schemas.microsoft.com/office/2006/metadata/properties" xmlns:ns3="139bbbe0-29d3-465b-aa74-c9924d2ccb12" targetNamespace="http://schemas.microsoft.com/office/2006/metadata/properties" ma:root="true" ma:fieldsID="89dd715fb6320103dc6cf832bf70abec" ns3:_="">
    <xsd:import namespace="139bbbe0-29d3-465b-aa74-c9924d2ccb1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9bbbe0-29d3-465b-aa74-c9924d2ccb1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139bbbe0-29d3-465b-aa74-c9924d2ccb12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B812AB-107F-449E-95CC-E2269E6E6F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9bbbe0-29d3-465b-aa74-c9924d2ccb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{F28D5D79-B13A-405A-9D1D-8C0F94F7F86B}tf67328976_win32</Template>
  <TotalTime>1520</TotalTime>
  <Words>684</Words>
  <Application>Microsoft Office PowerPoint</Application>
  <PresentationFormat>Widescreen</PresentationFormat>
  <Paragraphs>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Garamond</vt:lpstr>
      <vt:lpstr>Tenorite</vt:lpstr>
      <vt:lpstr>Custom</vt:lpstr>
      <vt:lpstr>Exploratory Spatial Analysis of Urban Agriculture and Air Quality in NYC   Omkar Tekawade PLSCI 5200 Project</vt:lpstr>
      <vt:lpstr>Project Goal &amp; Hypothesis</vt:lpstr>
      <vt:lpstr>INTRODUCTION </vt:lpstr>
      <vt:lpstr>Data Used</vt:lpstr>
      <vt:lpstr>PowerPoint Presentation</vt:lpstr>
      <vt:lpstr>Methods</vt:lpstr>
      <vt:lpstr>PowerPoint Presentation</vt:lpstr>
      <vt:lpstr>Random Layer Generation</vt:lpstr>
      <vt:lpstr>Results</vt:lpstr>
      <vt:lpstr>Results</vt:lpstr>
      <vt:lpstr>Discussion &amp; Interpretation</vt:lpstr>
      <vt:lpstr>Limitations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Omkar Tekawade</dc:creator>
  <cp:lastModifiedBy>Omkar Tekawade</cp:lastModifiedBy>
  <cp:revision>4</cp:revision>
  <dcterms:created xsi:type="dcterms:W3CDTF">2025-04-30T02:31:27Z</dcterms:created>
  <dcterms:modified xsi:type="dcterms:W3CDTF">2025-05-01T03:51:46Z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0x0101003EDBD4AC81E0B241B527F74DE163A7B4</vt:lpwstr>
  </property>
  <property fmtid="{D5CDD505-2E9C-101B-9397-08002B2CF9AE}" pid="3" name="MediaServiceImageTags">
    <vt:lpwstr/>
  </property>
</Properties>
</file>